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BM Plex Sans" panose="020B0503050203000203" pitchFamily="34" charset="0"/>
      <p:regular r:id="rId13"/>
    </p:embeddedFont>
    <p:embeddedFont>
      <p:font typeface="IBM Plex Sans Bold" panose="020B0803050203000203" charset="0"/>
      <p:regular r:id="rId14"/>
    </p:embeddedFont>
    <p:embeddedFont>
      <p:font typeface="Sora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554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4744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1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2447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84185" y="3329206"/>
            <a:ext cx="5892653" cy="161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b="1" kern="100" spc="-8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MediTrack: Asistente Móvil de Seguimiento Médico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84185" y="5163471"/>
            <a:ext cx="589265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Centralización accesible de atenciones médicas y medicamentos para pacientes crónicos.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84185" y="5987590"/>
            <a:ext cx="5892653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Equipo: </a:t>
            </a: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Eduardo González · Jorge Garrido · Matías Riveros. DUOC UC · Ingeniería en Informática.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2043978"/>
            <a:ext cx="610100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El </a:t>
            </a:r>
            <a:r>
              <a:rPr lang="en-US" sz="3400" b="1" kern="100" spc="-68" dirty="0" err="1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Problema</a:t>
            </a:r>
            <a:r>
              <a:rPr lang="en-US" sz="3400" b="1" kern="100" spc="-68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: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 err="1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Fragmentación</a:t>
            </a:r>
            <a:r>
              <a:rPr lang="en-US" sz="3400" b="1" kern="100" spc="-68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 y Olvido.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3180159"/>
            <a:ext cx="6101007" cy="171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1750"/>
              </a:spcAft>
              <a:buNone/>
            </a:pPr>
            <a:r>
              <a:rPr lang="en-US" sz="17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La información de tratamientos médicos está dispersa. Esto genera pérdida de horas médicas y falta de adherencia a esquemas farmacológicos.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Afecta críticamente a pacientes crónicos, adultos mayores con barreras tecnológicas y cuidadores familiares sobrecargados.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5011"/>
            <a:ext cx="6101007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La Solución: MediTrack.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2830838"/>
            <a:ext cx="6101007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Una aplicación móvil interactiva, segura y de alta accesibilidad que centraliza citas y medicamentos.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58786" y="3655147"/>
            <a:ext cx="6101007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Enfoque 100% End-to-End, pivotando desde un modelo automatizado fallido hacia una plataforma de gestión manual con alto valor agregado visual y sonoro.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5011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Diseño Centrado en la Accesibilidad.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143496"/>
            <a:ext cx="3488146" cy="5282704"/>
          </a:xfrm>
          <a:prstGeom prst="roundRect">
            <a:avLst>
              <a:gd name="adj" fmla="val 260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787380" y="2024730"/>
            <a:ext cx="3030958" cy="160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Identificación </a:t>
            </a:r>
            <a:r>
              <a:rPr lang="en-US" sz="2400" b="1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Fotográfica</a:t>
            </a:r>
            <a:r>
              <a:rPr lang="en-US" sz="2400" b="1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: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Carga de fotos reales de los medicamentos.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351725" y="1143496"/>
            <a:ext cx="3488146" cy="5282704"/>
          </a:xfrm>
          <a:prstGeom prst="roundRect">
            <a:avLst>
              <a:gd name="adj" fmla="val 260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319" y="1473061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80319" y="2024730"/>
            <a:ext cx="3030958" cy="160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Perfiles Múltiples: </a:t>
            </a:r>
            <a:r>
              <a:rPr lang="en-US" sz="2400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Gestión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independiente para cuidadores familiares.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144663" y="1143496"/>
            <a:ext cx="3488246" cy="5282704"/>
          </a:xfrm>
          <a:prstGeom prst="roundRect">
            <a:avLst>
              <a:gd name="adj" fmla="val 259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258" y="1473061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73257" y="2024730"/>
            <a:ext cx="3031057" cy="160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Text-to-Speech: 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Lectura de alertas en voz alta para discapacidad visual.</a:t>
            </a:r>
            <a:endParaRPr lang="en-US" sz="2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7E53948-983D-1BEA-AA83-0B7C2FFB53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8833" y="6499829"/>
            <a:ext cx="1463167" cy="358171"/>
          </a:xfrm>
          <a:prstGeom prst="rect">
            <a:avLst/>
          </a:prstGeom>
        </p:spPr>
      </p:pic>
      <p:pic>
        <p:nvPicPr>
          <p:cNvPr id="13" name="Imagen 12" descr="Cámara - Iconos gratis de tecnología">
            <a:extLst>
              <a:ext uri="{FF2B5EF4-FFF2-40B4-BE49-F238E27FC236}">
                <a16:creationId xmlns:a16="http://schemas.microsoft.com/office/drawing/2014/main" id="{D8A7A36F-A221-90E8-08C0-65ED0600E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380" y="1414547"/>
            <a:ext cx="548829" cy="54882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C6D2D8B-A4DB-8644-CA0B-3368C617DE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9521" y="3634058"/>
            <a:ext cx="1425493" cy="309049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DD0F1F0-47C9-BF87-933E-D4A7E79AB8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5393" y="3702845"/>
            <a:ext cx="1362036" cy="29529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15811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Integración de Componentes Nativos.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1201916"/>
            <a:ext cx="11632909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Uso avanzado de dependencias del sistema operativo móvil.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980984"/>
            <a:ext cx="539736" cy="53975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368" y="1980984"/>
            <a:ext cx="539736" cy="5397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58787" y="2734137"/>
            <a:ext cx="3985222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Notificaciones push locales, alertas intrusivas (</a:t>
            </a:r>
            <a:r>
              <a:rPr lang="en-US" sz="2400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vibración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</a:t>
            </a:r>
            <a:r>
              <a:rPr lang="en-US" sz="2400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insistente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en horarios de </a:t>
            </a:r>
            <a:r>
              <a:rPr lang="en-US" sz="2400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dosis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)</a:t>
            </a:r>
            <a:endParaRPr lang="en-US" sz="2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FA5050E-92C0-95AA-B3D9-9CF024913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8833" y="6499829"/>
            <a:ext cx="1463167" cy="358171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38D4A8A-0429-F80A-5655-7474B9F2701F}"/>
              </a:ext>
            </a:extLst>
          </p:cNvPr>
          <p:cNvSpPr/>
          <p:nvPr/>
        </p:nvSpPr>
        <p:spPr>
          <a:xfrm>
            <a:off x="7182368" y="2615836"/>
            <a:ext cx="2288531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Widgets (</a:t>
            </a:r>
            <a:r>
              <a:rPr lang="en-US" sz="2400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en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</a:t>
            </a:r>
            <a:r>
              <a:rPr lang="en-US" sz="2400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desarrollo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)</a:t>
            </a:r>
            <a:endParaRPr lang="en-U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159C9DF-DE24-4A7C-442A-D975C74F4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0991" y="1159843"/>
            <a:ext cx="2438399" cy="52865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2269AD0-C057-18DA-FD57-89A1FE76C8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6924" y="1980984"/>
            <a:ext cx="2113139" cy="45813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B034F8F-AD5D-E478-8FF3-83E5BA32E2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3193" y="3352189"/>
            <a:ext cx="1768840" cy="38348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2447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58786" y="541211"/>
            <a:ext cx="3555911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Arquitectura de Software Segura.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825879" y="431800"/>
            <a:ext cx="6807030" cy="1712516"/>
          </a:xfrm>
          <a:prstGeom prst="rect">
            <a:avLst/>
          </a:prstGeom>
          <a:solidFill>
            <a:srgbClr val="F1FAF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105272" y="666877"/>
            <a:ext cx="652763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Frontend:</a:t>
            </a: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React Native (Expo) multiplataforma.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825879" y="2449116"/>
            <a:ext cx="6807030" cy="2010470"/>
          </a:xfrm>
          <a:prstGeom prst="rect">
            <a:avLst/>
          </a:prstGeom>
          <a:solidFill>
            <a:srgbClr val="F1FAF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105272" y="2684193"/>
            <a:ext cx="624824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Backend &amp; BD:</a:t>
            </a: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Supabase (PostgreSQL) para persistencia y Storage (fotos).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25879" y="4764385"/>
            <a:ext cx="6807030" cy="1712615"/>
          </a:xfrm>
          <a:prstGeom prst="rect">
            <a:avLst/>
          </a:prstGeom>
          <a:solidFill>
            <a:srgbClr val="F1FAF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105272" y="4999462"/>
            <a:ext cx="652763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Seguridad:</a:t>
            </a: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Autenticación delegada OAuth 2.0 (Google Login).</a:t>
            </a:r>
            <a:endParaRPr lang="en-US" sz="17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55F7A8D-935B-E383-E5DD-AE6E54C6F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833" y="6499829"/>
            <a:ext cx="1463167" cy="358171"/>
          </a:xfrm>
          <a:prstGeom prst="rect">
            <a:avLst/>
          </a:prstGeom>
        </p:spPr>
      </p:pic>
      <p:pic>
        <p:nvPicPr>
          <p:cNvPr id="12" name="Imagen 11" descr="React Native Without Expo in 2026: Complete Setup Guide">
            <a:extLst>
              <a:ext uri="{FF2B5EF4-FFF2-40B4-BE49-F238E27FC236}">
                <a16:creationId xmlns:a16="http://schemas.microsoft.com/office/drawing/2014/main" id="{01026537-E575-8526-ADF3-627452DEE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531" y="580262"/>
            <a:ext cx="1926771" cy="10838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DE094DC-AA1C-4868-59D3-2BB189014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014" y="3074397"/>
            <a:ext cx="2142840" cy="12056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8A912F1-0F13-586B-790E-79EACF2101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9991" y="5532394"/>
            <a:ext cx="1312605" cy="11796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5011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Metodología Ágil y Gestión de Riesgos.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1149973"/>
            <a:ext cx="1163290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Trabajo bajo marco Scrum con Sprints semanales.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58786" y="4742954"/>
            <a:ext cx="3654334" cy="38100"/>
          </a:xfrm>
          <a:prstGeom prst="roundRect">
            <a:avLst>
              <a:gd name="adj" fmla="val 49999"/>
            </a:avLst>
          </a:prstGeom>
          <a:solidFill>
            <a:srgbClr val="2447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58786" y="5283720"/>
            <a:ext cx="11074123" cy="1206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Debido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a la inviabilidad de leer correos médicos por privacidad (Regex), se </a:t>
            </a:r>
            <a:r>
              <a:rPr lang="en-US" sz="2400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cambió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</a:t>
            </a:r>
            <a:r>
              <a:rPr lang="en-US" sz="2400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ágilmente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el </a:t>
            </a:r>
            <a:r>
              <a:rPr lang="en-US" sz="2400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enfoque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</a:t>
            </a:r>
            <a:r>
              <a:rPr lang="en-US" sz="2400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hacia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</a:t>
            </a:r>
            <a:r>
              <a:rPr lang="en-US" sz="2400" dirty="0" err="1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una</a:t>
            </a: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app 100% manual </a:t>
            </a:r>
            <a:endParaRPr lang="en-US" sz="2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900F2FC-F426-D6BA-9C21-9F5A33B40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833" y="6499829"/>
            <a:ext cx="1463167" cy="358171"/>
          </a:xfrm>
          <a:prstGeom prst="rect">
            <a:avLst/>
          </a:prstGeom>
        </p:spPr>
      </p:pic>
      <p:pic>
        <p:nvPicPr>
          <p:cNvPr id="8" name="Imagen 7" descr="Scrum: la guía actualizada para mejorar la gestión de proyectos">
            <a:extLst>
              <a:ext uri="{FF2B5EF4-FFF2-40B4-BE49-F238E27FC236}">
                <a16:creationId xmlns:a16="http://schemas.microsoft.com/office/drawing/2014/main" id="{61A8FA88-1727-2DEE-0E12-B7BF19607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1737547"/>
            <a:ext cx="4827889" cy="27156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5011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Competencias Aplicadas.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143496"/>
            <a:ext cx="5384665" cy="2514302"/>
          </a:xfrm>
          <a:prstGeom prst="roundRect">
            <a:avLst>
              <a:gd name="adj" fmla="val 360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787380" y="1372096"/>
            <a:ext cx="673083" cy="673100"/>
          </a:xfrm>
          <a:prstGeom prst="ellipse">
            <a:avLst/>
          </a:prstGeom>
          <a:solidFill>
            <a:srgbClr val="244744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01" y="1546721"/>
            <a:ext cx="323842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7380" y="2208137"/>
            <a:ext cx="4927477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Desarrollo Móvil Multiplataforma (UI/UX).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248244" y="1143496"/>
            <a:ext cx="5384665" cy="2514302"/>
          </a:xfrm>
          <a:prstGeom prst="roundRect">
            <a:avLst>
              <a:gd name="adj" fmla="val 360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6476838" y="1372096"/>
            <a:ext cx="673083" cy="673100"/>
          </a:xfrm>
          <a:prstGeom prst="ellipse">
            <a:avLst/>
          </a:prstGeom>
          <a:solidFill>
            <a:srgbClr val="244744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459" y="1546721"/>
            <a:ext cx="323842" cy="3238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76838" y="2208137"/>
            <a:ext cx="4927477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Integración de Sistemas (OAuth 2.0 y APIs).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558786" y="3962598"/>
            <a:ext cx="5384665" cy="2514402"/>
          </a:xfrm>
          <a:prstGeom prst="roundRect">
            <a:avLst>
              <a:gd name="adj" fmla="val 360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787380" y="4191198"/>
            <a:ext cx="673083" cy="673100"/>
          </a:xfrm>
          <a:prstGeom prst="ellipse">
            <a:avLst/>
          </a:prstGeom>
          <a:solidFill>
            <a:srgbClr val="244744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01" y="4365823"/>
            <a:ext cx="323842" cy="3238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7380" y="5027239"/>
            <a:ext cx="4927477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Bases de Datos Relacionales (PostgreSQL).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6248244" y="3962598"/>
            <a:ext cx="5384665" cy="2514402"/>
          </a:xfrm>
          <a:prstGeom prst="roundRect">
            <a:avLst>
              <a:gd name="adj" fmla="val 360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1"/>
          <p:cNvSpPr/>
          <p:nvPr/>
        </p:nvSpPr>
        <p:spPr>
          <a:xfrm>
            <a:off x="6476838" y="4191198"/>
            <a:ext cx="673083" cy="673100"/>
          </a:xfrm>
          <a:prstGeom prst="ellipse">
            <a:avLst/>
          </a:prstGeom>
          <a:solidFill>
            <a:srgbClr val="244744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1459" y="4365823"/>
            <a:ext cx="323842" cy="3238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76838" y="5027239"/>
            <a:ext cx="4927477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6383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Ciberseguridad y Pruebas (Sandbox).</a:t>
            </a:r>
            <a:endParaRPr lang="en-US" sz="24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E75B75F8-8430-87B8-2E76-2916561BE0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8833" y="6499829"/>
            <a:ext cx="1463167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5011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Ejecución del Cronograma (18 Semanas).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0839" y="3499563"/>
            <a:ext cx="11074123" cy="2857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3137616" y="2851863"/>
            <a:ext cx="28574" cy="647700"/>
          </a:xfrm>
          <a:prstGeom prst="roundRect">
            <a:avLst>
              <a:gd name="adj" fmla="val 5000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909021" y="3256676"/>
            <a:ext cx="485763" cy="485775"/>
          </a:xfrm>
          <a:prstGeom prst="roundRect">
            <a:avLst>
              <a:gd name="adj" fmla="val 18667"/>
            </a:avLst>
          </a:prstGeom>
          <a:solidFill>
            <a:srgbClr val="F2EEEE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989982" y="3327965"/>
            <a:ext cx="323842" cy="3431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50" b="1" kern="100" spc="-51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66684" y="2032515"/>
            <a:ext cx="497033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kern="100" spc="-36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Fase 1 (Diseño UI/UX y Arquitectura)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73613" y="3499563"/>
            <a:ext cx="28574" cy="647700"/>
          </a:xfrm>
          <a:prstGeom prst="roundRect">
            <a:avLst>
              <a:gd name="adj" fmla="val 5000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745019" y="3256676"/>
            <a:ext cx="485763" cy="485775"/>
          </a:xfrm>
          <a:prstGeom prst="roundRect">
            <a:avLst>
              <a:gd name="adj" fmla="val 18667"/>
            </a:avLst>
          </a:prstGeom>
          <a:solidFill>
            <a:srgbClr val="F2EEEE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5825980" y="3327965"/>
            <a:ext cx="323842" cy="3431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50" b="1" kern="100" spc="-51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3502731" y="4363163"/>
            <a:ext cx="4970338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kern="100" spc="-36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Fase 2 (Desarrollo Frontend, Backend Supabase y OAuth)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809611" y="2851863"/>
            <a:ext cx="28574" cy="647700"/>
          </a:xfrm>
          <a:prstGeom prst="roundRect">
            <a:avLst>
              <a:gd name="adj" fmla="val 5000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8581017" y="3256676"/>
            <a:ext cx="485763" cy="485775"/>
          </a:xfrm>
          <a:prstGeom prst="roundRect">
            <a:avLst>
              <a:gd name="adj" fmla="val 18667"/>
            </a:avLst>
          </a:prstGeom>
          <a:solidFill>
            <a:srgbClr val="F2EEEE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8661977" y="3327965"/>
            <a:ext cx="323842" cy="3431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50" b="1" kern="100" spc="-51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338729" y="2032515"/>
            <a:ext cx="4970338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kern="100" spc="-36" dirty="0">
                <a:solidFill>
                  <a:srgbClr val="26383A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Fase 3 (Pruebas en segundo plano, usabilidad y demostración final)</a:t>
            </a:r>
            <a:endParaRPr lang="en-US" sz="18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8FC5F06-EEEC-4E04-ECDA-24E43C2D0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833" y="6499829"/>
            <a:ext cx="1463167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7726" y="3073400"/>
            <a:ext cx="9651759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4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Demostración Técnica.</a:t>
            </a:r>
            <a:endParaRPr lang="en-US" sz="5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C85A39-4B54-3AE4-64E9-82E42E91B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6970" y="6499829"/>
            <a:ext cx="1265030" cy="3581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366</Words>
  <Application>Microsoft Office PowerPoint</Application>
  <PresentationFormat>Panorámica</PresentationFormat>
  <Paragraphs>49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Sora Bold</vt:lpstr>
      <vt:lpstr>IBM Plex Sans</vt:lpstr>
      <vt:lpstr>IBM Plex Sans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EDUARDO GUILLERMO GONZALEZ SILVA</cp:lastModifiedBy>
  <cp:revision>3</cp:revision>
  <dcterms:created xsi:type="dcterms:W3CDTF">2026-10-28T14:00:36Z</dcterms:created>
  <dcterms:modified xsi:type="dcterms:W3CDTF">2026-10-28T14:40:36Z</dcterms:modified>
</cp:coreProperties>
</file>